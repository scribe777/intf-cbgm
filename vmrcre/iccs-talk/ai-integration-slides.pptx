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12192000" cy="68580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94"/>
  </p:normalViewPr>
  <p:slideViewPr>
    <p:cSldViewPr snapToGrid="0" showGuides="1">
      <p:cViewPr varScale="1">
        <p:scale>
          <a:sx n="84" d="100"/>
          <a:sy n="84" d="100"/>
        </p:scale>
        <p:origin x="192" y="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87F23F9-A5CD-184A-B9C6-6CBA3B992419}" type="datetimeFigureOut">
              <a:rPr lang="de-DE"/>
              <a:t>25.07.26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9F77439-6101-C544-ABD0-9D0EE70349FE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9F77439-6101-C544-ABD0-9D0EE70349FE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650735" y="1783080"/>
            <a:ext cx="10890530" cy="1554480"/>
          </a:xfrm>
        </p:spPr>
        <p:txBody>
          <a:bodyPr>
            <a:noAutofit/>
          </a:bodyPr>
          <a:lstStyle/>
          <a:p>
            <a:pPr>
              <a:lnSpc>
                <a:spcPts val="4560"/>
              </a:lnSpc>
              <a:defRPr/>
            </a:pPr>
            <a:r>
              <a:rPr sz="3200" b="0" i="0">
                <a:solidFill>
                  <a:srgbClr val="1A1A1A"/>
                </a:solidFill>
                <a:latin typeface="Roboto"/>
              </a:rPr>
              <a:t>AI integration with collaborative</a:t>
            </a:r>
            <a:endParaRPr dirty="0"/>
          </a:p>
          <a:p>
            <a:r>
              <a:rPr sz="3200" b="0" i="0">
                <a:solidFill>
                  <a:srgbClr val="1A1A1A"/>
                </a:solidFill>
                <a:latin typeface="Roboto"/>
              </a:rPr>
              <a:t>digital tools for critical editions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41639" y="624649"/>
            <a:ext cx="2737484" cy="7938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5849" y="5127177"/>
            <a:ext cx="3632194" cy="64320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984638" y="4918957"/>
            <a:ext cx="3257395" cy="981290"/>
          </a:xfrm>
          <a:prstGeom prst="rect">
            <a:avLst/>
          </a:prstGeom>
        </p:spPr>
      </p:pic>
      <p:grpSp>
        <p:nvGrpSpPr>
          <p:cNvPr id="11" name="Gruppieren 10"/>
          <p:cNvGrpSpPr/>
          <p:nvPr/>
        </p:nvGrpSpPr>
        <p:grpSpPr bwMode="auto">
          <a:xfrm>
            <a:off x="4551017" y="4850803"/>
            <a:ext cx="3089965" cy="1117600"/>
            <a:chOff x="4727258" y="4914728"/>
            <a:chExt cx="3089965" cy="1117600"/>
          </a:xfrm>
        </p:grpSpPr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6"/>
            <a:srcRect r="51453"/>
            <a:stretch/>
          </p:blipFill>
          <p:spPr bwMode="auto">
            <a:xfrm>
              <a:off x="4727258" y="4914728"/>
              <a:ext cx="1368742" cy="1117600"/>
            </a:xfrm>
            <a:prstGeom prst="rect">
              <a:avLst/>
            </a:prstGeom>
          </p:spPr>
        </p:pic>
        <p:sp>
          <p:nvSpPr>
            <p:cNvPr id="10" name="Textfeld 9"/>
            <p:cNvSpPr txBox="1"/>
            <p:nvPr/>
          </p:nvSpPr>
          <p:spPr bwMode="auto">
            <a:xfrm>
              <a:off x="6096000" y="5039142"/>
              <a:ext cx="1721223" cy="94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260"/>
                </a:lnSpc>
                <a:defRPr/>
              </a:pPr>
              <a:r>
                <a:rPr lang="en-GB" sz="1600">
                  <a:solidFill>
                    <a:schemeClr val="bg2">
                      <a:lumMod val="50000"/>
                    </a:schemeClr>
                  </a:solidFill>
                  <a:latin typeface="Lato"/>
                  <a:ea typeface="Lato"/>
                  <a:cs typeface="Lato"/>
                </a:rPr>
                <a:t>International Association for Coptic Studies</a:t>
              </a:r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649224" y="33832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F5C99"/>
                </a:solidFill>
                <a:latin typeface="Roboto"/>
              </a:rPr>
              <a:t>Troy A. Griffitts</a:t>
            </a:r>
          </a:p>
          <a:p>
            <a:r>
              <a:rPr sz="1600" b="0" i="0">
                <a:solidFill>
                  <a:srgbClr val="1A1A1A"/>
                </a:solidFill>
                <a:latin typeface="Calibri"/>
              </a:rPr>
              <a:t>Virtual Manuscript Room Collaborative Research Environment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8A8380"/>
                </a:solidFill>
                <a:latin typeface="Calibri"/>
              </a:rPr>
              <a:t>13th International Congress of Coptic Studies  ·  Göttingen  ·  Friday 31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One edition, eleven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015" y="173736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8A8380"/>
                </a:solidFill>
                <a:latin typeface="Calibri"/>
              </a:rPr>
              <a:t>1. Cataloguing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9223" y="1737360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8A8380"/>
                </a:solidFill>
                <a:latin typeface="Calibri"/>
              </a:rPr>
              <a:t>2. Imaging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1737360"/>
            <a:ext cx="260604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3. Indexing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3639" y="1737360"/>
            <a:ext cx="260604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 Transcribing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015" y="2761487"/>
            <a:ext cx="260604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5. Collating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9223" y="2761487"/>
            <a:ext cx="260604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6. Regularizing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761487"/>
            <a:ext cx="260604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7. Setting variant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3639" y="2761487"/>
            <a:ext cx="2606040" cy="749808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8. Versional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2015" y="3785615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8A8380"/>
                </a:solidFill>
                <a:latin typeface="Calibri"/>
              </a:rPr>
              <a:t>9. Ordering readings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9223" y="3785615"/>
            <a:ext cx="2606040" cy="749808"/>
          </a:xfrm>
          <a:prstGeom prst="round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10. Textual history (CBGM)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3785615"/>
            <a:ext cx="26060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C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i="0">
                <a:solidFill>
                  <a:srgbClr val="8A8380"/>
                </a:solidFill>
                <a:latin typeface="Calibri"/>
              </a:rPr>
              <a:t>11.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015" y="4946904"/>
            <a:ext cx="11027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F5C99"/>
                </a:solidFill>
                <a:latin typeface="Calibri"/>
              </a:rPr>
              <a:t>Blue = AI integrated today (6)</a:t>
            </a:r>
            <a:r>
              <a:rPr sz="1400" b="1" i="0">
                <a:solidFill>
                  <a:srgbClr val="C99A2E"/>
                </a:solidFill>
                <a:latin typeface="Calibri"/>
              </a:rPr>
              <a:t>        Gold = CBGM local stemma — just landed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 i="0">
                <a:solidFill>
                  <a:srgbClr val="1A1A1A"/>
                </a:solidFill>
                <a:latin typeface="Roboto"/>
              </a:rPr>
              <a:t>Can AI be a legitimate assistant at every stage — without eroding the accountability that makes an edition authoritative?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047" y="4663440"/>
            <a:ext cx="8229600" cy="64008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"/>
              </a:rPr>
              <a:t>Assist everywhere.  Author nothing that becomes the edition.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Six integration points,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Indexing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— locate the biblical passage on each manuscript page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Transcribing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— first-pass diplomatic text — useful even where scholars will (rightly) challenge it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Collating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— language-aware alignment across Hebrew · LXX Greek · Latin · Coptic · Syriac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Regularizing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— propose orthographic normalisations for human review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Setting variant units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— group aligned columns into variation units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A1A1A"/>
                </a:solidFill>
                <a:latin typeface="Calibri"/>
              </a:rPr>
              <a:t>Versional evidence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 — align a translation back to its Greek / Hebrew Vorlage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Live demo — Psalm 22:2, five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tesla_ps22_2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54480"/>
            <a:ext cx="6464807" cy="4617720"/>
          </a:xfrm>
          <a:prstGeom prst="rect">
            <a:avLst/>
          </a:prstGeom>
          <a:ln w="9525">
            <a:solidFill>
              <a:srgbClr val="DDD5D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651760" y="61904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8A8380"/>
                </a:solidFill>
                <a:latin typeface="Calibri"/>
              </a:rPr>
              <a:t>Drew Longacre's Hebrew Bible Critical Edition of the Psalms, in the VMRCRE collation editor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Before — CollateX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slide_01_collation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54480"/>
            <a:ext cx="6464807" cy="4617720"/>
          </a:xfrm>
          <a:prstGeom prst="rect">
            <a:avLst/>
          </a:prstGeom>
          <a:ln w="9525">
            <a:solidFill>
              <a:srgbClr val="DDD5D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651760" y="61904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8A8380"/>
                </a:solidFill>
                <a:latin typeface="Calibri"/>
              </a:rPr>
              <a:t>Baseless, token-level: the alignment sprawls to 37 columns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After — language-aware AI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slide_06_gemini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54480"/>
            <a:ext cx="6464807" cy="4617720"/>
          </a:xfrm>
          <a:prstGeom prst="rect">
            <a:avLst/>
          </a:prstGeom>
          <a:ln w="9525">
            <a:solidFill>
              <a:srgbClr val="DDD5D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651760" y="61904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8A8380"/>
                </a:solidFill>
                <a:latin typeface="Calibri"/>
              </a:rPr>
              <a:t>Same verse, 26 columns · $0.30 · 2m39s · every run logged with model +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The width is the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slide_09_both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54480"/>
            <a:ext cx="6464807" cy="4617720"/>
          </a:xfrm>
          <a:prstGeom prst="rect">
            <a:avLst/>
          </a:prstGeom>
          <a:ln w="9525">
            <a:solidFill>
              <a:srgbClr val="DDD5D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651760" y="61904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8A8380"/>
                </a:solidFill>
                <a:latin typeface="Calibri"/>
              </a:rPr>
              <a:t>37 → 26 columns: fewer, better-motivated variation units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It shows its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slide_07_ai_p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54480"/>
            <a:ext cx="6464807" cy="4617720"/>
          </a:xfrm>
          <a:prstGeom prst="rect">
            <a:avLst/>
          </a:prstGeom>
          <a:ln w="9525">
            <a:solidFill>
              <a:srgbClr val="DDD5D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651760" y="61904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8A8380"/>
                </a:solidFill>
                <a:latin typeface="Calibri"/>
              </a:rPr>
              <a:t>Groups ⲟ ⲑⲉⲟⲥ ⲙⲟⲩ to Hebrew אלי — and states a Vorlage judgment openly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Lesson 1 — gate every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Roboto"/>
              </a:rPr>
              <a:t>AI is eager to please, and guesses persuasively.
Never trust the prose — check it against a mechanical invariant.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1047" y="4480560"/>
            <a:ext cx="8229600" cy="640080"/>
          </a:xfrm>
          <a:prstGeom prst="round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A1A1A"/>
                </a:solidFill>
                <a:latin typeface="Roboto"/>
              </a:rPr>
              <a:t>Collation gate:  tokens missing  ·  tokens added  ·  input words silently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8380"/>
                </a:solidFill>
                <a:latin typeface="Calibri"/>
              </a:rPr>
              <a:t>If any input token was altered without being reported, reject the whole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AI proposes; a human accepts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slide_10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54480"/>
            <a:ext cx="6464807" cy="4617720"/>
          </a:xfrm>
          <a:prstGeom prst="rect">
            <a:avLst/>
          </a:prstGeom>
          <a:ln w="9525">
            <a:solidFill>
              <a:srgbClr val="DDD5D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651760" y="61904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8A8380"/>
                </a:solidFill>
                <a:latin typeface="Calibri"/>
              </a:rPr>
              <a:t>Regularisation suggestions — each Accept / Dismiss by an editor. Nothing auto-commits.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Lesson 2 — prefer AI that writes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Roboto"/>
              </a:rPr>
              <a:t>AI is non-deterministic. Move the non-determinism to one-time authoring: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9144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Don't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— ask the model to redo the task by hand every time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2000" b="1" i="0">
                <a:solidFill>
                  <a:srgbClr val="1A1A1A"/>
                </a:solidFill>
                <a:latin typeface="Calibri"/>
              </a:rPr>
              <a:t>Do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— have it write deterministic code you review, keep, and improve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Roboto"/>
              </a:rPr>
              <a:t>AI joins the contribution ethos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A named, accountable member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 — its own userID; every action in the usage log — who, what, which model, what it cost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Bring-Your-Own-Key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 — three tiers, user → project → system; whose budget pays is always explicit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Enriches the shared research dataset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 — many teams draw on it for their own projects — it is not poured into one edition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A1A1A"/>
                </a:solidFill>
                <a:latin typeface="Roboto"/>
              </a:rPr>
              <a:t>The pattern generalizes — CBGM local stemma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98448"/>
            <a:ext cx="2377440" cy="381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380"/>
                </a:solidFill>
                <a:latin typeface="Calibri"/>
              </a:rPr>
              <a:t>AI integration with collaborative digital tools for critical editions  ·  ICCS XIII, Göttingen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3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" y="1783080"/>
            <a:ext cx="251460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Deterministic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coherence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1479" y="2034540"/>
            <a:ext cx="3291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A8380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4087" y="1783080"/>
            <a:ext cx="251460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Model registry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· BYOK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0399" y="2034540"/>
            <a:ext cx="3291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A838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783080"/>
            <a:ext cx="251460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AI proposes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only the 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9319" y="2034540"/>
            <a:ext cx="3291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8A838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1927" y="1783080"/>
            <a:ext cx="251460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Edge-by-edge review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cost + tokens logged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The hardest judgment in the pipeline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for each variation unit, which reading is the source of which — the CBGM local stemma (locstem)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Grounded on evidence it cannot invent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seeded from pre-genealogical coherence; the model proposes only the edges (Lesson 1)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1F5C99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A first-class NTVMR citizen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logs in with NTVMR credentials; decisions round-trip to the shared project-data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1F5C99"/>
                </a:solidFill>
                <a:latin typeface="Roboto"/>
              </a:rPr>
              <a:t>Same architecture as collation — a new stage, not a new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554480"/>
            <a:ext cx="101498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1A1A1A"/>
                </a:solidFill>
                <a:latin typeface="Roboto"/>
              </a:rPr>
              <a:t>Assist everywhere.  Author nothing.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880360"/>
            <a:ext cx="10149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1F5C99"/>
                </a:solidFill>
                <a:latin typeface="Roboto"/>
              </a:rPr>
              <a:t>AI as a legitimate assistant across the editing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8404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8380"/>
                </a:solidFill>
                <a:latin typeface="Calibri"/>
              </a:rPr>
              <a:t>Troy A. Griffitts  ·  VMRCRE / NTVMR  ·  coptot.manuscriptroom.com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0"/>
            <a:ext cx="3171625" cy="5669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57800"/>
            <a:ext cx="2306782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394960"/>
            <a:ext cx="258005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Macintosh PowerPoint</Application>
  <DocSecurity>0</DocSecurity>
  <PresentationFormat>Breitbild</PresentationFormat>
  <Paragraphs>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Lato</vt:lpstr>
      <vt:lpstr>Roboto</vt:lpstr>
      <vt:lpstr>Calibri Light</vt:lpstr>
      <vt:lpstr>Arial</vt:lpstr>
      <vt:lpstr>Calibri</vt:lpstr>
      <vt:lpstr>Office</vt:lpstr>
      <vt:lpstr>International Association for Coptic Studies (IACS) 13th International Congress of Coptic Studies Göttingen, 27 July – 1 Aug 2026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Malte Rosenau</dc:creator>
  <cp:keywords/>
  <dc:description/>
  <cp:lastModifiedBy>Malte Rosenau</cp:lastModifiedBy>
  <cp:revision>11</cp:revision>
  <dcterms:created xsi:type="dcterms:W3CDTF">2026-05-11T07:30:39Z</dcterms:created>
  <dcterms:modified xsi:type="dcterms:W3CDTF">2026-07-25T14:31:07Z</dcterms:modified>
  <cp:category/>
  <dc:identifier/>
  <cp:contentStatus/>
  <dc:language/>
  <cp:version/>
</cp:coreProperties>
</file>